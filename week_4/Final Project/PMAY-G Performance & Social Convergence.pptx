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263570"/>
    <a:srgbClr val="34A751"/>
    <a:srgbClr val="4A9DE2"/>
    <a:srgbClr val="88BFEC"/>
    <a:srgbClr val="F9B1B1"/>
    <a:srgbClr val="B2DE82"/>
    <a:srgbClr val="F57373"/>
    <a:srgbClr val="F03434"/>
    <a:srgbClr val="BC7D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hyperlink" Target="https://ndap.niti.gov.in/collection/Pradhan%20Mantri%20Awaas%20Yojana%20-%20Gramin%20(PMAY-G)/217"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480865" y="1196165"/>
            <a:ext cx="11611607" cy="1206062"/>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kern="1200" dirty="0">
                <a:solidFill>
                  <a:schemeClr val="tx2">
                    <a:lumMod val="90000"/>
                    <a:lumOff val="10000"/>
                  </a:schemeClr>
                </a:solidFill>
                <a:latin typeface="Times New Roman" panose="02020603050405020304" pitchFamily="18" charset="0"/>
                <a:cs typeface="Times New Roman" panose="02020603050405020304" pitchFamily="18" charset="0"/>
              </a:rPr>
              <a:t>CAPSTONE </a:t>
            </a:r>
            <a:r>
              <a:rPr lang="en-US" sz="2800" b="1" dirty="0">
                <a:solidFill>
                  <a:schemeClr val="tx2">
                    <a:lumMod val="90000"/>
                    <a:lumOff val="10000"/>
                  </a:schemeClr>
                </a:solidFill>
                <a:latin typeface="Times New Roman" panose="02020603050405020304" pitchFamily="18" charset="0"/>
                <a:cs typeface="Times New Roman" panose="02020603050405020304" pitchFamily="18" charset="0"/>
              </a:rPr>
              <a:t>PROJECT</a:t>
            </a:r>
            <a:endParaRPr lang="en-US" sz="2800" dirty="0">
              <a:solidFill>
                <a:schemeClr val="tx2">
                  <a:lumMod val="90000"/>
                  <a:lumOff val="10000"/>
                </a:schemeClr>
              </a:solidFill>
              <a:latin typeface="Times New Roman" panose="02020603050405020304" pitchFamily="18" charset="0"/>
              <a:cs typeface="Times New Roman" panose="02020603050405020304" pitchFamily="18" charset="0"/>
            </a:endParaRPr>
          </a:p>
          <a:p>
            <a:br>
              <a:rPr lang="en-US" sz="2000" b="1" dirty="0">
                <a:solidFill>
                  <a:srgbClr val="FF0000"/>
                </a:solidFill>
                <a:latin typeface="Times New Roman" panose="02020603050405020304" pitchFamily="18" charset="0"/>
                <a:cs typeface="Times New Roman" panose="02020603050405020304" pitchFamily="18" charset="0"/>
              </a:rPr>
            </a:br>
            <a:r>
              <a:rPr lang="en-US" sz="2000" dirty="0">
                <a:solidFill>
                  <a:srgbClr val="FF0000"/>
                </a:solidFill>
                <a:latin typeface="Times New Roman" panose="02020603050405020304" pitchFamily="18" charset="0"/>
                <a:cs typeface="Times New Roman" panose="02020603050405020304" pitchFamily="18" charset="0"/>
              </a:rPr>
              <a:t>Housing for All: PMAY-G Performance &amp; Social Convergence Dashboard</a:t>
            </a: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2416628" y="3184382"/>
            <a:ext cx="8518849" cy="2604568"/>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spcAft>
                <a:spcPts val="600"/>
              </a:spcAft>
            </a:pPr>
            <a:r>
              <a:rPr lang="en-US" sz="1600" b="1" dirty="0">
                <a:solidFill>
                  <a:srgbClr val="7030A0"/>
                </a:solidFill>
              </a:rPr>
              <a:t>PRESENTED BY</a:t>
            </a:r>
            <a:endParaRPr lang="en-US" sz="1600" dirty="0">
              <a:solidFill>
                <a:srgbClr val="7030A0"/>
              </a:solidFill>
            </a:endParaRPr>
          </a:p>
          <a:p>
            <a:pPr algn="just">
              <a:spcAft>
                <a:spcPts val="600"/>
              </a:spcAft>
            </a:pPr>
            <a:r>
              <a:rPr lang="en-US" sz="1600" b="1" dirty="0"/>
              <a:t>	STUDENT NAME: </a:t>
            </a:r>
            <a:r>
              <a:rPr lang="en-US" sz="1600" b="1" dirty="0">
                <a:solidFill>
                  <a:srgbClr val="0070C0"/>
                </a:solidFill>
              </a:rPr>
              <a:t>Swaranjali Baburao Harkare</a:t>
            </a:r>
          </a:p>
          <a:p>
            <a:pPr algn="just">
              <a:spcAft>
                <a:spcPts val="600"/>
              </a:spcAft>
            </a:pPr>
            <a:r>
              <a:rPr lang="en-US" sz="1600" b="1" dirty="0"/>
              <a:t>	COLLEGE NAME: </a:t>
            </a:r>
            <a:r>
              <a:rPr lang="en-US" sz="1600" b="1" dirty="0">
                <a:solidFill>
                  <a:srgbClr val="0070C0"/>
                </a:solidFill>
              </a:rPr>
              <a:t>Dr. J. J. </a:t>
            </a:r>
            <a:r>
              <a:rPr lang="en-US" sz="1600" b="1" dirty="0" err="1">
                <a:solidFill>
                  <a:srgbClr val="0070C0"/>
                </a:solidFill>
              </a:rPr>
              <a:t>Magdum</a:t>
            </a:r>
            <a:r>
              <a:rPr lang="en-US" sz="1600" b="1" dirty="0">
                <a:solidFill>
                  <a:srgbClr val="0070C0"/>
                </a:solidFill>
              </a:rPr>
              <a:t> College Of Engineering </a:t>
            </a:r>
            <a:r>
              <a:rPr lang="en-US" sz="1600" b="1" dirty="0" err="1">
                <a:solidFill>
                  <a:srgbClr val="0070C0"/>
                </a:solidFill>
              </a:rPr>
              <a:t>Jaysingpur</a:t>
            </a:r>
            <a:endParaRPr lang="en-US" sz="1600" b="1" dirty="0">
              <a:solidFill>
                <a:srgbClr val="0070C0"/>
              </a:solidFill>
            </a:endParaRPr>
          </a:p>
          <a:p>
            <a:pPr algn="just">
              <a:spcAft>
                <a:spcPts val="600"/>
              </a:spcAft>
            </a:pPr>
            <a:r>
              <a:rPr lang="en-US" sz="1600" b="1" dirty="0"/>
              <a:t>	DEPARTMENT: </a:t>
            </a:r>
            <a:r>
              <a:rPr lang="en-US" sz="1600" b="1" dirty="0">
                <a:solidFill>
                  <a:srgbClr val="0070C0"/>
                </a:solidFill>
              </a:rPr>
              <a:t>MCA</a:t>
            </a:r>
          </a:p>
          <a:p>
            <a:pPr algn="just">
              <a:spcAft>
                <a:spcPts val="600"/>
              </a:spcAft>
            </a:pPr>
            <a:r>
              <a:rPr lang="en-US" sz="1600" b="1" dirty="0"/>
              <a:t>	EMAIL ID: </a:t>
            </a:r>
            <a:r>
              <a:rPr lang="en-US" sz="1600" b="1" dirty="0">
                <a:solidFill>
                  <a:srgbClr val="0070C0"/>
                </a:solidFill>
              </a:rPr>
              <a:t>swaraharkare2001@gmail.com</a:t>
            </a:r>
          </a:p>
        </p:txBody>
      </p:sp>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0" y="783812"/>
            <a:ext cx="10515600" cy="533141"/>
          </a:xfrm>
        </p:spPr>
        <p:txBody>
          <a:bodyPr lIns="91440" tIns="45720" rIns="91440" bIns="45720" anchor="t">
            <a:normAutofit/>
          </a:bodyPr>
          <a:lstStyle/>
          <a:p>
            <a:r>
              <a:rPr lang="en-US" sz="2400" b="1" dirty="0">
                <a:solidFill>
                  <a:srgbClr val="FF0000"/>
                </a:solidFill>
                <a:latin typeface="Times New Roman" panose="02020603050405020304" pitchFamily="18" charset="0"/>
                <a:cs typeface="Times New Roman" panose="02020603050405020304" pitchFamily="18" charset="0"/>
              </a:rPr>
              <a:t>OUTLINE:</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153468" y="1449004"/>
            <a:ext cx="10515600" cy="4251960"/>
          </a:xfrm>
        </p:spPr>
        <p:txBody>
          <a:bodyPr vert="horz" lIns="91440" tIns="45720" rIns="91440" bIns="45720" rtlCol="0">
            <a:normAutofit/>
          </a:bodyPr>
          <a:lstStyle/>
          <a:p>
            <a:pPr marL="305435" indent="-305435">
              <a:spcBef>
                <a:spcPct val="20000"/>
              </a:spcBef>
              <a:spcAft>
                <a:spcPts val="600"/>
              </a:spcAft>
            </a:pPr>
            <a:r>
              <a:rPr lang="en-US" sz="2200" b="1" dirty="0">
                <a:solidFill>
                  <a:schemeClr val="tx1">
                    <a:lumMod val="95000"/>
                    <a:lumOff val="5000"/>
                  </a:schemeClr>
                </a:solidFill>
                <a:latin typeface="Times New Roman" panose="02020603050405020304" pitchFamily="18" charset="0"/>
                <a:cs typeface="Times New Roman" panose="02020603050405020304" pitchFamily="18" charset="0"/>
              </a:rPr>
              <a:t>Problem Statement</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Proposed System/Solution</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System Development Approach </a:t>
            </a:r>
            <a:r>
              <a:rPr lang="en-US" sz="2200" dirty="0">
                <a:latin typeface="Times New Roman" panose="02020603050405020304" pitchFamily="18" charset="0"/>
                <a:cs typeface="Times New Roman" panose="02020603050405020304" pitchFamily="18" charset="0"/>
              </a:rPr>
              <a:t>(Technology Used) </a:t>
            </a:r>
          </a:p>
          <a:p>
            <a:pPr marL="305435" indent="-305435">
              <a:spcBef>
                <a:spcPct val="20000"/>
              </a:spcBef>
              <a:spcAft>
                <a:spcPts val="600"/>
              </a:spcAft>
            </a:pPr>
            <a:r>
              <a:rPr lang="en-IN" sz="2000" b="1" dirty="0">
                <a:solidFill>
                  <a:schemeClr val="tx1">
                    <a:lumMod val="95000"/>
                    <a:lumOff val="5000"/>
                  </a:schemeClr>
                </a:solidFill>
                <a:latin typeface="Times New Roman" panose="02020603050405020304" pitchFamily="18" charset="0"/>
                <a:cs typeface="Times New Roman" panose="02020603050405020304" pitchFamily="18" charset="0"/>
              </a:rPr>
              <a:t>Workflow</a:t>
            </a:r>
            <a:r>
              <a:rPr lang="en-US" sz="2200" b="1" dirty="0">
                <a:solidFill>
                  <a:schemeClr val="tx1">
                    <a:lumMod val="95000"/>
                    <a:lumOff val="5000"/>
                  </a:schemeClr>
                </a:solidFill>
                <a:latin typeface="Times New Roman" panose="02020603050405020304" pitchFamily="18" charset="0"/>
                <a:cs typeface="Times New Roman" panose="02020603050405020304" pitchFamily="18" charset="0"/>
              </a:rPr>
              <a:t> &amp; Deployment  </a:t>
            </a:r>
            <a:endParaRPr lang="en-US" sz="22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Result (Output Image)</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Conclusion</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Future Scope</a:t>
            </a:r>
            <a:endParaRPr lang="en-US" sz="2200" dirty="0">
              <a:latin typeface="Times New Roman" panose="02020603050405020304" pitchFamily="18" charset="0"/>
              <a:cs typeface="Times New Roman" panose="02020603050405020304" pitchFamily="18" charset="0"/>
            </a:endParaRPr>
          </a:p>
          <a:p>
            <a:pPr marL="305435" indent="-305435">
              <a:spcBef>
                <a:spcPct val="20000"/>
              </a:spcBef>
              <a:spcAft>
                <a:spcPts val="600"/>
              </a:spcAft>
            </a:pPr>
            <a:r>
              <a:rPr lang="en-US" sz="2200" b="1" dirty="0">
                <a:latin typeface="Times New Roman" panose="02020603050405020304" pitchFamily="18" charset="0"/>
                <a:cs typeface="Times New Roman" panose="02020603050405020304" pitchFamily="18" charset="0"/>
              </a:rPr>
              <a:t>References</a:t>
            </a:r>
            <a:endParaRPr lang="en-US" sz="2200" dirty="0">
              <a:latin typeface="Times New Roman" panose="02020603050405020304" pitchFamily="18" charset="0"/>
              <a:cs typeface="Times New Roman" panose="02020603050405020304" pitchFamily="18" charset="0"/>
            </a:endParaRPr>
          </a:p>
          <a:p>
            <a:endParaRPr lang="en-GB"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789231"/>
            <a:ext cx="10515600" cy="619692"/>
          </a:xfrm>
        </p:spPr>
        <p:txBody>
          <a:bodyPr lIns="91440" tIns="45720" rIns="91440" bIns="45720" anchor="t">
            <a:normAutofit/>
          </a:bodyPr>
          <a:lstStyle/>
          <a:p>
            <a:r>
              <a:rPr lang="en-US" sz="2400" b="1" cap="all" dirty="0">
                <a:solidFill>
                  <a:srgbClr val="FF0000"/>
                </a:solidFill>
                <a:latin typeface="Times New Roman" panose="02020603050405020304" pitchFamily="18" charset="0"/>
                <a:cs typeface="Times New Roman" panose="02020603050405020304" pitchFamily="18" charset="0"/>
              </a:rPr>
              <a:t>Problem Statement:</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1" y="1715071"/>
            <a:ext cx="11456729" cy="3267476"/>
          </a:xfrm>
        </p:spPr>
        <p:txBody>
          <a:bodyPr vert="horz" lIns="91440" tIns="45720" rIns="91440" bIns="45720" rtlCol="0">
            <a:normAutofit/>
          </a:bodyPr>
          <a:lstStyle/>
          <a:p>
            <a:pPr marL="0" indent="0" algn="just">
              <a:buNone/>
            </a:pPr>
            <a:r>
              <a:rPr lang="en-US" sz="2000" dirty="0">
                <a:latin typeface="Times New Roman" panose="02020603050405020304" pitchFamily="18" charset="0"/>
                <a:cs typeface="Times New Roman" panose="02020603050405020304" pitchFamily="18" charset="0"/>
              </a:rPr>
              <a:t>The PMAY-G scheme is implemented across rural India to provide affordable housing and social convergence. It is important to ensure that beneficiaries receive not just a house, but also essential integrated services like LPG (Ujjwala) and sanitation (SBM) at the right time to ensure a dignified life. Eventually, tracking the progress and integration of these multiple welfare schemes across millions of registrations becomes a major concern. The crucial part is the visual analysis of service delivery funnels and administrative lead-times to identify high-pending regions and ensure the timely completion of all promised benefits.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0" y="724549"/>
            <a:ext cx="10515600" cy="395124"/>
          </a:xfrm>
        </p:spPr>
        <p:txBody>
          <a:bodyPr lIns="91440" tIns="45720" rIns="91440" bIns="45720" anchor="t">
            <a:normAutofit fontScale="90000"/>
          </a:bodyPr>
          <a:lstStyle/>
          <a:p>
            <a:r>
              <a:rPr lang="en-US" sz="2400" b="1" cap="all" dirty="0">
                <a:solidFill>
                  <a:srgbClr val="FF0000"/>
                </a:solidFill>
                <a:latin typeface="Times New Roman" panose="02020603050405020304" pitchFamily="18" charset="0"/>
                <a:cs typeface="Times New Roman" panose="02020603050405020304" pitchFamily="18" charset="0"/>
              </a:rPr>
              <a:t>Proposed Solution:</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5"/>
            <a:ext cx="10515600" cy="4620633"/>
          </a:xfrm>
        </p:spPr>
        <p:txBody>
          <a:bodyPr vert="horz" lIns="91440" tIns="45720" rIns="91440" bIns="45720" rtlCol="0" anchor="t">
            <a:noAutofit/>
          </a:bodyPr>
          <a:lstStyle/>
          <a:p>
            <a:pPr marL="0" indent="0">
              <a:spcBef>
                <a:spcPct val="20000"/>
              </a:spcBef>
              <a:spcAft>
                <a:spcPts val="600"/>
              </a:spcAft>
              <a:buNone/>
            </a:pPr>
            <a:r>
              <a:rPr lang="en-US" sz="1400" b="1" dirty="0">
                <a:latin typeface="Calibri" panose="020F0502020204030204" pitchFamily="34" charset="0"/>
                <a:ea typeface="Calibri" panose="020F0502020204030204" pitchFamily="34" charset="0"/>
                <a:cs typeface="Calibri" panose="020F0502020204030204" pitchFamily="34" charset="0"/>
              </a:rPr>
              <a:t>The proposed system aims to address the challenge of monitoring rural housing progress and social convergence to ensure the timely delivery of integrated welfare benefits. This involves leveraging Power BI data analytics and visualization techniques to track housing completions alongside LPG and sanitation integration. The solution will consist of the following components:</a:t>
            </a:r>
          </a:p>
          <a:p>
            <a:pPr marL="305435" indent="-305435">
              <a:spcBef>
                <a:spcPct val="20000"/>
              </a:spcBef>
              <a:spcAft>
                <a:spcPts val="600"/>
              </a:spcAft>
              <a:buFont typeface="Arial"/>
              <a:buChar char="•"/>
            </a:pPr>
            <a:r>
              <a:rPr lang="en-IN" sz="1400" b="1" dirty="0">
                <a:latin typeface="Calibri"/>
                <a:ea typeface="Calibri"/>
                <a:cs typeface="Calibri"/>
              </a:rPr>
              <a:t>Data Collection:</a:t>
            </a:r>
            <a:endParaRPr lang="en-IN" sz="1400" dirty="0">
              <a:latin typeface="Calibri"/>
              <a:ea typeface="Calibri"/>
              <a:cs typeface="Calibri"/>
            </a:endParaRP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Gathered three high-granularity datasets from the National Data and Analytics Platform (NDAP), covering PMAY-G Administrative Delays (2016–2026), House Completions (2014–2023), and SBM/Ujjwala Status (2016–2025).</a:t>
            </a:r>
            <a:endParaRPr lang="en-IN" sz="1400" b="1" dirty="0">
              <a:latin typeface="Calibri"/>
              <a:ea typeface="Calibri"/>
              <a:cs typeface="Calibri"/>
            </a:endParaRP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Utilize diverse data sources to include information on Ujjwala (LPG) connections and Swachh Bharat Mission (SBM) seeding for convergence analysis.</a:t>
            </a:r>
            <a:endParaRPr lang="en-IN" sz="1400" b="1" dirty="0">
              <a:latin typeface="Calibri"/>
              <a:ea typeface="Calibri"/>
              <a:cs typeface="Calibri"/>
            </a:endParaRPr>
          </a:p>
          <a:p>
            <a:pPr marL="305435" indent="-305435">
              <a:spcBef>
                <a:spcPct val="20000"/>
              </a:spcBef>
              <a:spcAft>
                <a:spcPts val="600"/>
              </a:spcAft>
              <a:buFont typeface="Arial"/>
              <a:buChar char="•"/>
            </a:pPr>
            <a:r>
              <a:rPr lang="en-IN" sz="1400" b="1" dirty="0">
                <a:latin typeface="Calibri"/>
                <a:ea typeface="Calibri"/>
                <a:cs typeface="Calibri"/>
              </a:rPr>
              <a:t>Data Preprocessing:</a:t>
            </a:r>
            <a:endParaRPr lang="en-IN" sz="1400" dirty="0">
              <a:latin typeface="Calibri"/>
              <a:ea typeface="Calibri"/>
              <a:cs typeface="Calibri"/>
            </a:endParaRP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Utilized Power Query to clean and standardize a decade of daily frequency data, resolving formatting inconsistencies across 31 States and Union Territories.</a:t>
            </a:r>
            <a:endParaRPr lang="en-IN" sz="1400" b="1" dirty="0">
              <a:latin typeface="Calibri" panose="020F0502020204030204" pitchFamily="34" charset="0"/>
              <a:ea typeface="Calibri" panose="020F0502020204030204" pitchFamily="34" charset="0"/>
              <a:cs typeface="Calibri" panose="020F0502020204030204" pitchFamily="34" charset="0"/>
            </a:endParaRPr>
          </a:p>
          <a:p>
            <a:pPr marL="629920" lvl="1" indent="-305435">
              <a:spcBef>
                <a:spcPct val="20000"/>
              </a:spcBef>
              <a:spcAft>
                <a:spcPts val="600"/>
              </a:spcAft>
              <a:buFont typeface="Arial"/>
              <a:buChar char="•"/>
            </a:pPr>
            <a:r>
              <a:rPr lang="en-IN" sz="1400" b="1" dirty="0">
                <a:latin typeface="Calibri"/>
                <a:ea typeface="Calibri"/>
                <a:cs typeface="Calibri"/>
              </a:rPr>
              <a:t>Built </a:t>
            </a:r>
            <a:r>
              <a:rPr lang="en-US" sz="1400" b="1" dirty="0">
                <a:latin typeface="Calibri" panose="020F0502020204030204" pitchFamily="34" charset="0"/>
                <a:ea typeface="Calibri" panose="020F0502020204030204" pitchFamily="34" charset="0"/>
                <a:cs typeface="Calibri" panose="020F0502020204030204" pitchFamily="34" charset="0"/>
              </a:rPr>
              <a:t>a Star Schema by linking multiple fact tables through centralized </a:t>
            </a:r>
            <a:r>
              <a:rPr lang="en-US" sz="1400" b="1" dirty="0" err="1">
                <a:latin typeface="Calibri" panose="020F0502020204030204" pitchFamily="34" charset="0"/>
                <a:ea typeface="Calibri" panose="020F0502020204030204" pitchFamily="34" charset="0"/>
                <a:cs typeface="Calibri" panose="020F0502020204030204" pitchFamily="34" charset="0"/>
              </a:rPr>
              <a:t>Dim_State</a:t>
            </a:r>
            <a:r>
              <a:rPr lang="en-US" sz="1400" b="1" dirty="0">
                <a:latin typeface="Calibri" panose="020F0502020204030204" pitchFamily="34" charset="0"/>
                <a:ea typeface="Calibri" panose="020F0502020204030204" pitchFamily="34" charset="0"/>
                <a:cs typeface="Calibri" panose="020F0502020204030204" pitchFamily="34" charset="0"/>
              </a:rPr>
              <a:t> and Year dimensions for high-performance reporting.</a:t>
            </a:r>
            <a:endParaRPr lang="en-IN" sz="1400" dirty="0">
              <a:latin typeface="Calibri"/>
              <a:ea typeface="Calibri"/>
              <a:cs typeface="Calibri"/>
            </a:endParaRPr>
          </a:p>
          <a:p>
            <a:pPr marL="305435" indent="-305435">
              <a:spcBef>
                <a:spcPct val="20000"/>
              </a:spcBef>
              <a:spcAft>
                <a:spcPts val="600"/>
              </a:spcAft>
              <a:buFont typeface="Arial"/>
              <a:buChar char="•"/>
            </a:pPr>
            <a:r>
              <a:rPr lang="en-IN" sz="1400" b="1" dirty="0">
                <a:latin typeface="Calibri"/>
                <a:ea typeface="Calibri"/>
                <a:cs typeface="Calibri"/>
              </a:rPr>
              <a:t>Deployment:</a:t>
            </a:r>
            <a:endParaRPr lang="en-IN" sz="1400" dirty="0">
              <a:latin typeface="Calibri"/>
              <a:ea typeface="Calibri"/>
              <a:cs typeface="Calibri"/>
            </a:endParaRP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Developed a professional-grade Power BI interface with dedicated modules: Overview for high-level tracking, Efficiency Audit for bottleneck analysis, and Social Convergence for holistic welfare mapping</a:t>
            </a:r>
            <a:endParaRPr lang="en-IN" sz="1400" b="1" dirty="0">
              <a:latin typeface="Calibri" panose="020F0502020204030204" pitchFamily="34" charset="0"/>
              <a:ea typeface="Calibri" panose="020F0502020204030204" pitchFamily="34" charset="0"/>
              <a:cs typeface="Calibri" panose="020F0502020204030204" pitchFamily="34" charset="0"/>
            </a:endParaRP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Enhanced user experience with interactive Slicers, "Clear All" reset functions, and modern tooltips for granular state-level deep dives.</a:t>
            </a:r>
            <a:endParaRPr lang="en-IN" sz="1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410815"/>
          </a:xfrm>
        </p:spPr>
        <p:txBody>
          <a:bodyPr lIns="91440" tIns="45720" rIns="91440" bIns="45720" anchor="t">
            <a:normAutofit/>
          </a:bodyPr>
          <a:lstStyle/>
          <a:p>
            <a:r>
              <a:rPr lang="en-US" sz="2200" b="1" cap="all" dirty="0">
                <a:solidFill>
                  <a:srgbClr val="FF0000"/>
                </a:solidFill>
                <a:latin typeface="Times New Roman" panose="02020603050405020304" pitchFamily="18" charset="0"/>
                <a:cs typeface="Times New Roman" panose="02020603050405020304" pitchFamily="18" charset="0"/>
              </a:rPr>
              <a:t>System  Approach:</a:t>
            </a:r>
            <a:endParaRPr lang="en-US" sz="22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389014"/>
            <a:ext cx="10515600" cy="4251960"/>
          </a:xfrm>
        </p:spPr>
        <p:txBody>
          <a:bodyPr vert="horz" lIns="91440" tIns="45720" rIns="91440" bIns="45720" rtlCol="0">
            <a:normAutofit/>
          </a:bodyPr>
          <a:lstStyle/>
          <a:p>
            <a:pPr marL="0" indent="0">
              <a:spcBef>
                <a:spcPct val="20000"/>
              </a:spcBef>
              <a:spcAft>
                <a:spcPts val="600"/>
              </a:spcAft>
              <a:buNone/>
            </a:pPr>
            <a:r>
              <a:rPr lang="en-IN" sz="1500" b="1" dirty="0">
                <a:latin typeface="Calibri" panose="020F0502020204030204" pitchFamily="34" charset="0"/>
                <a:ea typeface="Calibri" panose="020F0502020204030204" pitchFamily="34" charset="0"/>
                <a:cs typeface="Calibri" panose="020F0502020204030204" pitchFamily="34" charset="0"/>
              </a:rPr>
              <a:t>The "System Approach" section outlines the overall strategy and methodology for developing and implementing the </a:t>
            </a:r>
            <a:r>
              <a:rPr lang="en-US" sz="1500" b="1" dirty="0">
                <a:latin typeface="Calibri" panose="020F0502020204030204" pitchFamily="34" charset="0"/>
                <a:ea typeface="Calibri" panose="020F0502020204030204" pitchFamily="34" charset="0"/>
                <a:cs typeface="Calibri" panose="020F0502020204030204" pitchFamily="34" charset="0"/>
              </a:rPr>
              <a:t>PMAY-G Housing &amp; Social Convergence Analytics</a:t>
            </a:r>
            <a:r>
              <a:rPr lang="en-IN" sz="1500" b="1" dirty="0">
                <a:latin typeface="Calibri" panose="020F0502020204030204" pitchFamily="34" charset="0"/>
                <a:ea typeface="Calibri" panose="020F0502020204030204" pitchFamily="34" charset="0"/>
                <a:cs typeface="Calibri" panose="020F0502020204030204" pitchFamily="34" charset="0"/>
              </a:rPr>
              <a:t>. Here's a suggested structure for this section:</a:t>
            </a:r>
          </a:p>
          <a:p>
            <a:pPr marL="0" indent="0">
              <a:spcBef>
                <a:spcPct val="20000"/>
              </a:spcBef>
              <a:spcAft>
                <a:spcPts val="600"/>
              </a:spcAft>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IN" sz="1500" b="1" dirty="0">
                <a:latin typeface="Calibri" panose="020F0502020204030204" pitchFamily="34" charset="0"/>
                <a:ea typeface="Calibri" panose="020F0502020204030204" pitchFamily="34" charset="0"/>
                <a:cs typeface="Calibri" panose="020F0502020204030204" pitchFamily="34" charset="0"/>
              </a:rPr>
              <a:t>System requirements</a:t>
            </a:r>
          </a:p>
          <a:p>
            <a:pPr lvl="1">
              <a:spcBef>
                <a:spcPct val="20000"/>
              </a:spcBef>
              <a:spcAft>
                <a:spcPts val="600"/>
              </a:spcAft>
            </a:pPr>
            <a:r>
              <a:rPr lang="en-US" sz="1500" b="1" dirty="0">
                <a:latin typeface="Calibri" panose="020F0502020204030204" pitchFamily="34" charset="0"/>
                <a:ea typeface="Calibri" panose="020F0502020204030204" pitchFamily="34" charset="0"/>
                <a:cs typeface="Calibri" panose="020F0502020204030204" pitchFamily="34" charset="0"/>
              </a:rPr>
              <a:t>Software:</a:t>
            </a:r>
            <a:r>
              <a:rPr lang="en-US" sz="1500" dirty="0">
                <a:latin typeface="Calibri" panose="020F0502020204030204" pitchFamily="34" charset="0"/>
                <a:ea typeface="Calibri" panose="020F0502020204030204" pitchFamily="34" charset="0"/>
                <a:cs typeface="Calibri" panose="020F0502020204030204" pitchFamily="34" charset="0"/>
              </a:rPr>
              <a:t> Power BI Desktop (for development), Power BI Service (for deployment)</a:t>
            </a:r>
          </a:p>
          <a:p>
            <a:pPr lvl="1">
              <a:spcBef>
                <a:spcPct val="20000"/>
              </a:spcBef>
              <a:spcAft>
                <a:spcPts val="600"/>
              </a:spcAft>
            </a:pPr>
            <a:r>
              <a:rPr lang="en-US" sz="1500" b="1" dirty="0">
                <a:latin typeface="Calibri" panose="020F0502020204030204" pitchFamily="34" charset="0"/>
                <a:ea typeface="Calibri" panose="020F0502020204030204" pitchFamily="34" charset="0"/>
                <a:cs typeface="Calibri" panose="020F0502020204030204" pitchFamily="34" charset="0"/>
              </a:rPr>
              <a:t>Data Source:</a:t>
            </a:r>
            <a:r>
              <a:rPr lang="en-US" sz="1500" dirty="0">
                <a:latin typeface="Calibri" panose="020F0502020204030204" pitchFamily="34" charset="0"/>
                <a:ea typeface="Calibri" panose="020F0502020204030204" pitchFamily="34" charset="0"/>
                <a:cs typeface="Calibri" panose="020F0502020204030204" pitchFamily="34" charset="0"/>
              </a:rPr>
              <a:t> Standardized government datasets sourced from the </a:t>
            </a:r>
            <a:r>
              <a:rPr lang="en-US" sz="1500" b="1" dirty="0">
                <a:latin typeface="Calibri" panose="020F0502020204030204" pitchFamily="34" charset="0"/>
                <a:ea typeface="Calibri" panose="020F0502020204030204" pitchFamily="34" charset="0"/>
                <a:cs typeface="Calibri" panose="020F0502020204030204" pitchFamily="34" charset="0"/>
              </a:rPr>
              <a:t>National Data and Analytics Platform (NDAP)</a:t>
            </a:r>
          </a:p>
          <a:p>
            <a:pPr lvl="1">
              <a:spcBef>
                <a:spcPct val="20000"/>
              </a:spcBef>
              <a:spcAft>
                <a:spcPts val="600"/>
              </a:spcAft>
            </a:pPr>
            <a:r>
              <a:rPr lang="en-US" sz="1500" b="1" dirty="0">
                <a:latin typeface="Calibri" panose="020F0502020204030204" pitchFamily="34" charset="0"/>
                <a:ea typeface="Calibri" panose="020F0502020204030204" pitchFamily="34" charset="0"/>
                <a:cs typeface="Calibri" panose="020F0502020204030204" pitchFamily="34" charset="0"/>
              </a:rPr>
              <a:t>Hardware:</a:t>
            </a:r>
            <a:r>
              <a:rPr lang="en-US" sz="1500" dirty="0">
                <a:latin typeface="Calibri" panose="020F0502020204030204" pitchFamily="34" charset="0"/>
                <a:ea typeface="Calibri" panose="020F0502020204030204" pitchFamily="34" charset="0"/>
                <a:cs typeface="Calibri" panose="020F0502020204030204" pitchFamily="34" charset="0"/>
              </a:rPr>
              <a:t> A system with a minimum of 8GB RAM</a:t>
            </a:r>
          </a:p>
          <a:p>
            <a:pPr marL="457200" lvl="1" indent="0">
              <a:spcBef>
                <a:spcPct val="20000"/>
              </a:spcBef>
              <a:spcAft>
                <a:spcPts val="600"/>
              </a:spcAft>
              <a:buNone/>
            </a:pPr>
            <a:endParaRPr lang="en-US" sz="1500"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IN" sz="1500" b="1" dirty="0">
                <a:latin typeface="Calibri" panose="020F0502020204030204" pitchFamily="34" charset="0"/>
                <a:ea typeface="Calibri" panose="020F0502020204030204" pitchFamily="34" charset="0"/>
                <a:cs typeface="Calibri" panose="020F0502020204030204" pitchFamily="34" charset="0"/>
              </a:rPr>
              <a:t>Library required to build the model</a:t>
            </a:r>
          </a:p>
          <a:p>
            <a:pPr lvl="1">
              <a:spcBef>
                <a:spcPct val="20000"/>
              </a:spcBef>
              <a:spcAft>
                <a:spcPts val="600"/>
              </a:spcAft>
            </a:pPr>
            <a:r>
              <a:rPr lang="en-IN" sz="1500" b="1" dirty="0">
                <a:latin typeface="Calibri" panose="020F0502020204030204" pitchFamily="34" charset="0"/>
                <a:ea typeface="Calibri" panose="020F0502020204030204" pitchFamily="34" charset="0"/>
                <a:cs typeface="Calibri" panose="020F0502020204030204" pitchFamily="34" charset="0"/>
              </a:rPr>
              <a:t>Power Query: </a:t>
            </a:r>
            <a:r>
              <a:rPr lang="en-US" sz="1500" dirty="0">
                <a:latin typeface="Calibri" panose="020F0502020204030204" pitchFamily="34" charset="0"/>
                <a:ea typeface="Calibri" panose="020F0502020204030204" pitchFamily="34" charset="0"/>
                <a:cs typeface="Calibri" panose="020F0502020204030204" pitchFamily="34" charset="0"/>
              </a:rPr>
              <a:t>Used for the ETL process—cleaning, merging, and transforming raw NDAP files.</a:t>
            </a:r>
          </a:p>
          <a:p>
            <a:pPr lvl="1">
              <a:spcBef>
                <a:spcPct val="20000"/>
              </a:spcBef>
              <a:spcAft>
                <a:spcPts val="600"/>
              </a:spcAft>
            </a:pPr>
            <a:r>
              <a:rPr lang="en-US" sz="1500" b="1" dirty="0">
                <a:latin typeface="Calibri" panose="020F0502020204030204" pitchFamily="34" charset="0"/>
                <a:ea typeface="Calibri" panose="020F0502020204030204" pitchFamily="34" charset="0"/>
                <a:cs typeface="Calibri" panose="020F0502020204030204" pitchFamily="34" charset="0"/>
              </a:rPr>
              <a:t>DAX (Data Analysis Expressions):</a:t>
            </a:r>
            <a:r>
              <a:rPr lang="en-US" sz="1500" dirty="0">
                <a:latin typeface="Calibri" panose="020F0502020204030204" pitchFamily="34" charset="0"/>
                <a:ea typeface="Calibri" panose="020F0502020204030204" pitchFamily="34" charset="0"/>
                <a:cs typeface="Calibri" panose="020F0502020204030204" pitchFamily="34" charset="0"/>
              </a:rPr>
              <a:t> The primary calculation library used to create measures for </a:t>
            </a:r>
            <a:r>
              <a:rPr lang="en-US" sz="1500" b="1" dirty="0">
                <a:latin typeface="Calibri" panose="020F0502020204030204" pitchFamily="34" charset="0"/>
                <a:ea typeface="Calibri" panose="020F0502020204030204" pitchFamily="34" charset="0"/>
                <a:cs typeface="Calibri" panose="020F0502020204030204" pitchFamily="34" charset="0"/>
              </a:rPr>
              <a:t>Completion Rates</a:t>
            </a:r>
            <a:r>
              <a:rPr lang="en-US" sz="1500" dirty="0">
                <a:latin typeface="Calibri" panose="020F0502020204030204" pitchFamily="34" charset="0"/>
                <a:ea typeface="Calibri" panose="020F0502020204030204" pitchFamily="34" charset="0"/>
                <a:cs typeface="Calibri" panose="020F0502020204030204" pitchFamily="34" charset="0"/>
              </a:rPr>
              <a:t>, </a:t>
            </a:r>
            <a:r>
              <a:rPr lang="en-US" sz="1500" b="1" dirty="0">
                <a:latin typeface="Calibri" panose="020F0502020204030204" pitchFamily="34" charset="0"/>
                <a:ea typeface="Calibri" panose="020F0502020204030204" pitchFamily="34" charset="0"/>
                <a:cs typeface="Calibri" panose="020F0502020204030204" pitchFamily="34" charset="0"/>
              </a:rPr>
              <a:t>Administrative Delays</a:t>
            </a:r>
            <a:r>
              <a:rPr lang="en-US" sz="1500" dirty="0">
                <a:latin typeface="Calibri" panose="020F0502020204030204" pitchFamily="34" charset="0"/>
                <a:ea typeface="Calibri" panose="020F0502020204030204" pitchFamily="34" charset="0"/>
                <a:cs typeface="Calibri" panose="020F0502020204030204" pitchFamily="34" charset="0"/>
              </a:rPr>
              <a:t>, and </a:t>
            </a:r>
            <a:r>
              <a:rPr lang="en-US" sz="1500" b="1" dirty="0">
                <a:latin typeface="Calibri" panose="020F0502020204030204" pitchFamily="34" charset="0"/>
                <a:ea typeface="Calibri" panose="020F0502020204030204" pitchFamily="34" charset="0"/>
                <a:cs typeface="Calibri" panose="020F0502020204030204" pitchFamily="34" charset="0"/>
              </a:rPr>
              <a:t>SBM Saturation</a:t>
            </a:r>
            <a:r>
              <a:rPr lang="en-US" sz="1500" dirty="0">
                <a:latin typeface="Calibri" panose="020F0502020204030204" pitchFamily="34" charset="0"/>
                <a:ea typeface="Calibri" panose="020F0502020204030204" pitchFamily="34" charset="0"/>
                <a:cs typeface="Calibri" panose="020F0502020204030204" pitchFamily="34" charset="0"/>
              </a:rPr>
              <a:t>.</a:t>
            </a:r>
          </a:p>
          <a:p>
            <a:pPr lvl="1">
              <a:spcBef>
                <a:spcPct val="20000"/>
              </a:spcBef>
              <a:spcAft>
                <a:spcPts val="600"/>
              </a:spcAft>
            </a:pPr>
            <a:endParaRPr lang="en-GB" sz="15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5"/>
            <a:ext cx="10515600" cy="526386"/>
          </a:xfrm>
        </p:spPr>
        <p:txBody>
          <a:bodyPr lIns="91440" tIns="45720" rIns="91440" bIns="45720" anchor="t">
            <a:normAutofit/>
          </a:bodyPr>
          <a:lstStyle/>
          <a:p>
            <a:r>
              <a:rPr lang="en-IN" sz="2400" b="1" dirty="0">
                <a:solidFill>
                  <a:srgbClr val="FF0000"/>
                </a:solidFill>
                <a:latin typeface="Times New Roman" panose="02020603050405020304" pitchFamily="18" charset="0"/>
                <a:cs typeface="Times New Roman" panose="02020603050405020304" pitchFamily="18" charset="0"/>
              </a:rPr>
              <a:t>Workflow</a:t>
            </a:r>
            <a:r>
              <a:rPr lang="en-US" sz="2400" b="1" cap="all" dirty="0">
                <a:solidFill>
                  <a:srgbClr val="FF0000"/>
                </a:solidFill>
                <a:latin typeface="Times New Roman" panose="02020603050405020304" pitchFamily="18" charset="0"/>
                <a:cs typeface="Times New Roman" panose="02020603050405020304" pitchFamily="18" charset="0"/>
              </a:rPr>
              <a:t> &amp; Deployment:</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478890"/>
            <a:ext cx="10515600" cy="4251960"/>
          </a:xfrm>
        </p:spPr>
        <p:txBody>
          <a:bodyPr vert="horz" lIns="91440" tIns="45720" rIns="91440" bIns="45720" rtlCol="0">
            <a:normAutofit lnSpcReduction="10000"/>
          </a:bodyPr>
          <a:lstStyle/>
          <a:p>
            <a:pPr marL="0" indent="0">
              <a:spcBef>
                <a:spcPct val="20000"/>
              </a:spcBef>
              <a:spcAft>
                <a:spcPts val="600"/>
              </a:spcAft>
              <a:buNone/>
            </a:pPr>
            <a:r>
              <a:rPr lang="en-US" sz="1400" b="1" dirty="0">
                <a:latin typeface="Calibri" panose="020F0502020204030204" pitchFamily="34" charset="0"/>
                <a:ea typeface="Calibri" panose="020F0502020204030204" pitchFamily="34" charset="0"/>
                <a:cs typeface="Calibri" panose="020F0502020204030204" pitchFamily="34" charset="0"/>
              </a:rPr>
              <a:t>The "Workflow &amp; Deployment" section details the step-by-step process of transforming raw data into a live, interactive analytical system</a:t>
            </a:r>
            <a:r>
              <a:rPr lang="en-IN" sz="1400" b="1" dirty="0">
                <a:latin typeface="Calibri" panose="020F0502020204030204" pitchFamily="34" charset="0"/>
                <a:ea typeface="Calibri" panose="020F0502020204030204" pitchFamily="34" charset="0"/>
                <a:cs typeface="Calibri" panose="020F0502020204030204" pitchFamily="34" charset="0"/>
              </a:rPr>
              <a:t>:</a:t>
            </a:r>
          </a:p>
          <a:p>
            <a:pPr marL="305435" indent="-305435">
              <a:spcBef>
                <a:spcPct val="20000"/>
              </a:spcBef>
              <a:spcAft>
                <a:spcPts val="600"/>
              </a:spcAft>
              <a:buFont typeface="Arial"/>
              <a:buChar char="•"/>
            </a:pPr>
            <a:r>
              <a:rPr lang="en-IN" sz="1400" b="1" dirty="0">
                <a:latin typeface="Calibri" panose="020F0502020204030204" pitchFamily="34" charset="0"/>
                <a:ea typeface="Calibri" panose="020F0502020204030204" pitchFamily="34" charset="0"/>
                <a:cs typeface="Calibri" panose="020F0502020204030204" pitchFamily="34" charset="0"/>
              </a:rPr>
              <a:t>Workflow Selection:</a:t>
            </a: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Data Extraction: Sourced multi-sectoral datasets from the NDAP portal, focusing on housing, clean energy, and sanitation metrics (2014–2026).</a:t>
            </a: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ETL Pipeline: Utilized Power Query to clean 3.9M+ records, handle null values, and standardize state-level identifiers across all three fact tables.</a:t>
            </a: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Data Modeling: Established a Star Schema architecture, linking disparate datasets through a centralized </a:t>
            </a:r>
            <a:r>
              <a:rPr lang="en-US" sz="1400" b="1" dirty="0" err="1">
                <a:latin typeface="Calibri" panose="020F0502020204030204" pitchFamily="34" charset="0"/>
                <a:ea typeface="Calibri" panose="020F0502020204030204" pitchFamily="34" charset="0"/>
                <a:cs typeface="Calibri" panose="020F0502020204030204" pitchFamily="34" charset="0"/>
              </a:rPr>
              <a:t>Dim_State</a:t>
            </a:r>
            <a:r>
              <a:rPr lang="en-US" sz="1400" b="1" dirty="0">
                <a:latin typeface="Calibri" panose="020F0502020204030204" pitchFamily="34" charset="0"/>
                <a:ea typeface="Calibri" panose="020F0502020204030204" pitchFamily="34" charset="0"/>
                <a:cs typeface="Calibri" panose="020F0502020204030204" pitchFamily="34" charset="0"/>
              </a:rPr>
              <a:t> lookup and a dedicated Year dimension.</a:t>
            </a:r>
          </a:p>
          <a:p>
            <a:pPr marL="629920" lvl="1" indent="-305435">
              <a:spcBef>
                <a:spcPct val="20000"/>
              </a:spcBef>
              <a:spcAft>
                <a:spcPts val="600"/>
              </a:spcAft>
              <a:buFont typeface="Arial"/>
              <a:buChar char="•"/>
            </a:pPr>
            <a:r>
              <a:rPr lang="en-IN" sz="1400" b="1" dirty="0">
                <a:latin typeface="Calibri" panose="020F0502020204030204" pitchFamily="34" charset="0"/>
                <a:ea typeface="Calibri" panose="020F0502020204030204" pitchFamily="34" charset="0"/>
                <a:cs typeface="Calibri" panose="020F0502020204030204" pitchFamily="34" charset="0"/>
              </a:rPr>
              <a:t>DAX FORMULATION: </a:t>
            </a:r>
            <a:r>
              <a:rPr lang="en-US" sz="1400" b="1" dirty="0"/>
              <a:t>Developed custom DAX measures for Administrative Efficiency (Avg Time), Project Success (Completion Rate %), and Social Gaps (LPG Pending) to identify 2026 bottlenecks.</a:t>
            </a:r>
          </a:p>
          <a:p>
            <a:pPr marL="324485" lvl="1" indent="0">
              <a:spcBef>
                <a:spcPct val="20000"/>
              </a:spcBef>
              <a:spcAft>
                <a:spcPts val="600"/>
              </a:spcAft>
              <a:buNone/>
            </a:pPr>
            <a:endParaRPr lang="en-IN" sz="1400" b="1" dirty="0">
              <a:latin typeface="Calibri" panose="020F0502020204030204" pitchFamily="34" charset="0"/>
              <a:ea typeface="Calibri" panose="020F0502020204030204" pitchFamily="34" charset="0"/>
              <a:cs typeface="Calibri" panose="020F0502020204030204" pitchFamily="34" charset="0"/>
            </a:endParaRPr>
          </a:p>
          <a:p>
            <a:pPr marL="305435" indent="-305435">
              <a:spcBef>
                <a:spcPct val="20000"/>
              </a:spcBef>
              <a:spcAft>
                <a:spcPts val="600"/>
              </a:spcAft>
              <a:buFont typeface="Arial"/>
              <a:buChar char="•"/>
            </a:pPr>
            <a:r>
              <a:rPr lang="en-IN" sz="1400" b="1" dirty="0">
                <a:latin typeface="Calibri" panose="020F0502020204030204" pitchFamily="34" charset="0"/>
                <a:ea typeface="Calibri" panose="020F0502020204030204" pitchFamily="34" charset="0"/>
                <a:cs typeface="Calibri" panose="020F0502020204030204" pitchFamily="34" charset="0"/>
              </a:rPr>
              <a:t>Deployment:</a:t>
            </a: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Report Generation: Designed a three-module dashboard focused on Overview, Efficiency, and Social Convergence for a high-quality user experience.</a:t>
            </a:r>
          </a:p>
          <a:p>
            <a:pPr marL="629920" lvl="1" indent="-305435">
              <a:spcBef>
                <a:spcPct val="20000"/>
              </a:spcBef>
              <a:spcAft>
                <a:spcPts val="600"/>
              </a:spcAft>
              <a:buFont typeface="Arial"/>
              <a:buChar char="•"/>
            </a:pPr>
            <a:r>
              <a:rPr lang="en-US" sz="1400" b="1" dirty="0">
                <a:latin typeface="Calibri" panose="020F0502020204030204" pitchFamily="34" charset="0"/>
                <a:ea typeface="Calibri" panose="020F0502020204030204" pitchFamily="34" charset="0"/>
                <a:cs typeface="Calibri" panose="020F0502020204030204" pitchFamily="34" charset="0"/>
              </a:rPr>
              <a:t>Consumption: Provided end-users with interactive Slicers and Drill-down features to analyze regional performance and "High-Pending" states directly from a web browser.</a:t>
            </a:r>
          </a:p>
          <a:p>
            <a:pPr marL="324485" lvl="1" indent="0">
              <a:spcBef>
                <a:spcPct val="20000"/>
              </a:spcBef>
              <a:spcAft>
                <a:spcPts val="600"/>
              </a:spcAft>
              <a:buNone/>
            </a:pPr>
            <a:endParaRPr lang="en-IN" sz="1400" b="1" dirty="0">
              <a:latin typeface="Calibri" panose="020F0502020204030204" pitchFamily="34" charset="0"/>
              <a:ea typeface="Calibri" panose="020F0502020204030204" pitchFamily="34" charset="0"/>
              <a:cs typeface="Calibri" panose="020F0502020204030204" pitchFamily="34" charset="0"/>
            </a:endParaRPr>
          </a:p>
          <a:p>
            <a:pPr marL="0" indent="0">
              <a:spcBef>
                <a:spcPct val="20000"/>
              </a:spcBef>
              <a:spcAft>
                <a:spcPts val="600"/>
              </a:spcAft>
              <a:buNone/>
            </a:pPr>
            <a:endParaRPr lang="en-IN" sz="1400" b="1"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743209"/>
            <a:ext cx="10515600" cy="418687"/>
          </a:xfrm>
        </p:spPr>
        <p:txBody>
          <a:bodyPr lIns="91440" tIns="45720" rIns="91440" bIns="45720" anchor="t">
            <a:normAutofit fontScale="90000"/>
          </a:bodyPr>
          <a:lstStyle/>
          <a:p>
            <a:r>
              <a:rPr lang="en-US" sz="2400" b="1" cap="all" dirty="0">
                <a:solidFill>
                  <a:srgbClr val="FF0000"/>
                </a:solidFill>
                <a:latin typeface="Times New Roman" panose="02020603050405020304" pitchFamily="18" charset="0"/>
                <a:cs typeface="Times New Roman" panose="02020603050405020304" pitchFamily="18" charset="0"/>
              </a:rPr>
              <a:t>Result:</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9" name="Content Placeholder 8">
            <a:extLst>
              <a:ext uri="{FF2B5EF4-FFF2-40B4-BE49-F238E27FC236}">
                <a16:creationId xmlns:a16="http://schemas.microsoft.com/office/drawing/2014/main" id="{3803F0EB-1913-B000-A754-9C151307183E}"/>
              </a:ext>
            </a:extLst>
          </p:cNvPr>
          <p:cNvSpPr>
            <a:spLocks noGrp="1"/>
          </p:cNvSpPr>
          <p:nvPr>
            <p:ph idx="1"/>
          </p:nvPr>
        </p:nvSpPr>
        <p:spPr/>
        <p:txBody>
          <a:bodyPr/>
          <a:lstStyle/>
          <a:p>
            <a:pPr marL="0" indent="0">
              <a:buNone/>
            </a:pPr>
            <a:endParaRPr lang="en-IN" sz="800" dirty="0">
              <a:latin typeface="Calibri" panose="020F0502020204030204" pitchFamily="34" charset="0"/>
              <a:ea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8DD8E474-6006-96F5-4172-9013B83D7FE5}"/>
              </a:ext>
            </a:extLst>
          </p:cNvPr>
          <p:cNvSpPr txBox="1"/>
          <p:nvPr/>
        </p:nvSpPr>
        <p:spPr>
          <a:xfrm>
            <a:off x="7389822" y="1161896"/>
            <a:ext cx="4677163" cy="4431983"/>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Overall Performance:</a:t>
            </a:r>
            <a:r>
              <a:rPr lang="en-US" dirty="0">
                <a:latin typeface="Calibri" panose="020F0502020204030204" pitchFamily="34" charset="0"/>
                <a:ea typeface="Calibri" panose="020F0502020204030204" pitchFamily="34" charset="0"/>
                <a:cs typeface="Calibri" panose="020F0502020204030204" pitchFamily="34" charset="0"/>
              </a:rPr>
              <a:t> Out of </a:t>
            </a:r>
            <a:r>
              <a:rPr lang="en-US" b="1" dirty="0">
                <a:latin typeface="Calibri" panose="020F0502020204030204" pitchFamily="34" charset="0"/>
                <a:ea typeface="Calibri" panose="020F0502020204030204" pitchFamily="34" charset="0"/>
                <a:cs typeface="Calibri" panose="020F0502020204030204" pitchFamily="34" charset="0"/>
              </a:rPr>
              <a:t>29.7 million</a:t>
            </a:r>
            <a:r>
              <a:rPr lang="en-US" dirty="0">
                <a:latin typeface="Calibri" panose="020F0502020204030204" pitchFamily="34" charset="0"/>
                <a:ea typeface="Calibri" panose="020F0502020204030204" pitchFamily="34" charset="0"/>
                <a:cs typeface="Calibri" panose="020F0502020204030204" pitchFamily="34" charset="0"/>
              </a:rPr>
              <a:t> houses sanctioned, </a:t>
            </a:r>
            <a:r>
              <a:rPr lang="en-US" b="1" dirty="0">
                <a:latin typeface="Calibri" panose="020F0502020204030204" pitchFamily="34" charset="0"/>
                <a:ea typeface="Calibri" panose="020F0502020204030204" pitchFamily="34" charset="0"/>
                <a:cs typeface="Calibri" panose="020F0502020204030204" pitchFamily="34" charset="0"/>
              </a:rPr>
              <a:t>19.4 million</a:t>
            </a:r>
            <a:r>
              <a:rPr lang="en-US" dirty="0">
                <a:latin typeface="Calibri" panose="020F0502020204030204" pitchFamily="34" charset="0"/>
                <a:ea typeface="Calibri" panose="020F0502020204030204" pitchFamily="34" charset="0"/>
                <a:cs typeface="Calibri" panose="020F0502020204030204" pitchFamily="34" charset="0"/>
              </a:rPr>
              <a:t> have been successfully completed.</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Regional Trends:</a:t>
            </a:r>
            <a:r>
              <a:rPr lang="en-US" dirty="0">
                <a:latin typeface="Calibri" panose="020F0502020204030204" pitchFamily="34" charset="0"/>
                <a:ea typeface="Calibri" panose="020F0502020204030204" pitchFamily="34" charset="0"/>
                <a:cs typeface="Calibri" panose="020F0502020204030204" pitchFamily="34" charset="0"/>
              </a:rPr>
              <a:t> </a:t>
            </a:r>
            <a:r>
              <a:rPr lang="en-US" b="1" dirty="0">
                <a:latin typeface="Calibri" panose="020F0502020204030204" pitchFamily="34" charset="0"/>
                <a:ea typeface="Calibri" panose="020F0502020204030204" pitchFamily="34" charset="0"/>
                <a:cs typeface="Calibri" panose="020F0502020204030204" pitchFamily="34" charset="0"/>
              </a:rPr>
              <a:t>Bihar</a:t>
            </a:r>
            <a:r>
              <a:rPr lang="en-US" dirty="0">
                <a:latin typeface="Calibri" panose="020F0502020204030204" pitchFamily="34" charset="0"/>
                <a:ea typeface="Calibri" panose="020F0502020204030204" pitchFamily="34" charset="0"/>
                <a:cs typeface="Calibri" panose="020F0502020204030204" pitchFamily="34" charset="0"/>
              </a:rPr>
              <a:t> leads the nation in housing completions.</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Historical Peak:</a:t>
            </a:r>
            <a:r>
              <a:rPr lang="en-US" dirty="0">
                <a:latin typeface="Calibri" panose="020F0502020204030204" pitchFamily="34" charset="0"/>
                <a:ea typeface="Calibri" panose="020F0502020204030204" pitchFamily="34" charset="0"/>
                <a:cs typeface="Calibri" panose="020F0502020204030204" pitchFamily="34" charset="0"/>
              </a:rPr>
              <a:t> Completion rates saw a significant surge after 2016, reaching a historical high in </a:t>
            </a:r>
            <a:r>
              <a:rPr lang="en-US" b="1" dirty="0">
                <a:latin typeface="Calibri" panose="020F0502020204030204" pitchFamily="34" charset="0"/>
                <a:ea typeface="Calibri" panose="020F0502020204030204" pitchFamily="34" charset="0"/>
                <a:cs typeface="Calibri" panose="020F0502020204030204" pitchFamily="34" charset="0"/>
              </a:rPr>
              <a:t>2022</a:t>
            </a:r>
            <a:r>
              <a:rPr lang="en-US" dirty="0">
                <a:latin typeface="Calibri" panose="020F0502020204030204" pitchFamily="34" charset="0"/>
                <a:ea typeface="Calibri" panose="020F0502020204030204" pitchFamily="34" charset="0"/>
                <a:cs typeface="Calibri" panose="020F0502020204030204" pitchFamily="34" charset="0"/>
              </a:rPr>
              <a:t> with over </a:t>
            </a:r>
            <a:r>
              <a:rPr lang="en-US" b="1" dirty="0">
                <a:latin typeface="Calibri" panose="020F0502020204030204" pitchFamily="34" charset="0"/>
                <a:ea typeface="Calibri" panose="020F0502020204030204" pitchFamily="34" charset="0"/>
                <a:cs typeface="Calibri" panose="020F0502020204030204" pitchFamily="34" charset="0"/>
              </a:rPr>
              <a:t>5.6 million</a:t>
            </a:r>
            <a:r>
              <a:rPr lang="en-US" dirty="0">
                <a:latin typeface="Calibri" panose="020F0502020204030204" pitchFamily="34" charset="0"/>
                <a:ea typeface="Calibri" panose="020F0502020204030204" pitchFamily="34" charset="0"/>
                <a:cs typeface="Calibri" panose="020F0502020204030204" pitchFamily="34" charset="0"/>
              </a:rPr>
              <a:t> houses finished.</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Actionable Insights</a:t>
            </a:r>
            <a:r>
              <a:rPr lang="en-US" b="1" dirty="0">
                <a:latin typeface="Calibri" panose="020F0502020204030204" pitchFamily="34" charset="0"/>
                <a:ea typeface="Calibri" panose="020F0502020204030204" pitchFamily="34" charset="0"/>
                <a:cs typeface="Calibri" panose="020F0502020204030204" pitchFamily="34" charset="0"/>
              </a:rPr>
              <a:t>:</a:t>
            </a:r>
            <a:r>
              <a:rPr lang="en-US" dirty="0">
                <a:latin typeface="Calibri" panose="020F0502020204030204" pitchFamily="34" charset="0"/>
                <a:ea typeface="Calibri" panose="020F0502020204030204" pitchFamily="34" charset="0"/>
                <a:cs typeface="Calibri" panose="020F0502020204030204" pitchFamily="34" charset="0"/>
              </a:rPr>
              <a:t> Identified the Top 10 States (including MP, UP, and Odisha) contributing to over 70% of the national housing goal, providing a clear roadmap for resource allocation.</a:t>
            </a:r>
          </a:p>
        </p:txBody>
      </p:sp>
      <p:pic>
        <p:nvPicPr>
          <p:cNvPr id="12" name="Picture 11">
            <a:extLst>
              <a:ext uri="{FF2B5EF4-FFF2-40B4-BE49-F238E27FC236}">
                <a16:creationId xmlns:a16="http://schemas.microsoft.com/office/drawing/2014/main" id="{8585CD95-7916-7CAC-5BE5-0D866C525FAC}"/>
              </a:ext>
            </a:extLst>
          </p:cNvPr>
          <p:cNvPicPr>
            <a:picLocks noChangeAspect="1"/>
          </p:cNvPicPr>
          <p:nvPr/>
        </p:nvPicPr>
        <p:blipFill>
          <a:blip r:embed="rId2"/>
          <a:stretch>
            <a:fillRect/>
          </a:stretch>
        </p:blipFill>
        <p:spPr>
          <a:xfrm>
            <a:off x="113166" y="1196971"/>
            <a:ext cx="7276656" cy="4638829"/>
          </a:xfrm>
          <a:prstGeom prst="rect">
            <a:avLst/>
          </a:prstGeom>
          <a:ln>
            <a:solidFill>
              <a:schemeClr val="tx1"/>
            </a:solidFill>
          </a:ln>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073B89C-8943-5AF3-A338-89DF4B0E43E9}"/>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CBD1D9E2-A810-0D3E-84E8-E75A48CF0BD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sp>
        <p:nvSpPr>
          <p:cNvPr id="6" name="Title 5">
            <a:extLst>
              <a:ext uri="{FF2B5EF4-FFF2-40B4-BE49-F238E27FC236}">
                <a16:creationId xmlns:a16="http://schemas.microsoft.com/office/drawing/2014/main" id="{30A77CAA-2E6D-BE3F-EFDB-69CA33C4C354}"/>
              </a:ext>
            </a:extLst>
          </p:cNvPr>
          <p:cNvSpPr>
            <a:spLocks noGrp="1"/>
          </p:cNvSpPr>
          <p:nvPr>
            <p:ph type="title"/>
          </p:nvPr>
        </p:nvSpPr>
        <p:spPr/>
        <p:txBody>
          <a:bodyPr/>
          <a:lstStyle/>
          <a:p>
            <a:endParaRPr lang="en-IN" dirty="0"/>
          </a:p>
        </p:txBody>
      </p:sp>
      <p:pic>
        <p:nvPicPr>
          <p:cNvPr id="13" name="Picture 12">
            <a:extLst>
              <a:ext uri="{FF2B5EF4-FFF2-40B4-BE49-F238E27FC236}">
                <a16:creationId xmlns:a16="http://schemas.microsoft.com/office/drawing/2014/main" id="{EBA6B8DA-FD8D-6D04-D46C-10C7E62907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062" y="1035506"/>
            <a:ext cx="7333443" cy="4534678"/>
          </a:xfrm>
          <a:prstGeom prst="rect">
            <a:avLst/>
          </a:prstGeom>
          <a:ln>
            <a:solidFill>
              <a:schemeClr val="tx1"/>
            </a:solidFill>
          </a:ln>
        </p:spPr>
      </p:pic>
      <p:sp>
        <p:nvSpPr>
          <p:cNvPr id="21" name="TextBox 20">
            <a:extLst>
              <a:ext uri="{FF2B5EF4-FFF2-40B4-BE49-F238E27FC236}">
                <a16:creationId xmlns:a16="http://schemas.microsoft.com/office/drawing/2014/main" id="{A4957813-8D21-A095-B557-F447DA4CFF8A}"/>
              </a:ext>
            </a:extLst>
          </p:cNvPr>
          <p:cNvSpPr txBox="1"/>
          <p:nvPr/>
        </p:nvSpPr>
        <p:spPr>
          <a:xfrm>
            <a:off x="7408505" y="830425"/>
            <a:ext cx="4124131" cy="4739759"/>
          </a:xfrm>
          <a:prstGeom prst="rect">
            <a:avLst/>
          </a:prstGeom>
          <a:noFill/>
        </p:spPr>
        <p:txBody>
          <a:bodyPr wrap="square" rtlCol="0">
            <a:spAutoFit/>
          </a:bodyPr>
          <a:lstStyle/>
          <a:p>
            <a:pPr marL="285750" indent="-285750">
              <a:buFont typeface="Arial" panose="020B0604020202020204" pitchFamily="34" charset="0"/>
              <a:buChar char="•"/>
            </a:pPr>
            <a:r>
              <a:rPr lang="en-US" sz="1600" b="1" dirty="0">
                <a:latin typeface="Calibri" panose="020F0502020204030204" pitchFamily="34" charset="0"/>
                <a:ea typeface="Calibri" panose="020F0502020204030204" pitchFamily="34" charset="0"/>
                <a:cs typeface="Calibri" panose="020F0502020204030204" pitchFamily="34" charset="0"/>
              </a:rPr>
              <a:t>Completion Rate: </a:t>
            </a:r>
            <a:r>
              <a:rPr lang="en-US" sz="1600" dirty="0">
                <a:latin typeface="Calibri" panose="020F0502020204030204" pitchFamily="34" charset="0"/>
                <a:ea typeface="Calibri" panose="020F0502020204030204" pitchFamily="34" charset="0"/>
                <a:cs typeface="Calibri" panose="020F0502020204030204" pitchFamily="34" charset="0"/>
              </a:rPr>
              <a:t>Achieved a </a:t>
            </a:r>
            <a:r>
              <a:rPr lang="en-US" sz="1600" b="1" dirty="0">
                <a:latin typeface="Calibri" panose="020F0502020204030204" pitchFamily="34" charset="0"/>
                <a:ea typeface="Calibri" panose="020F0502020204030204" pitchFamily="34" charset="0"/>
                <a:cs typeface="Calibri" panose="020F0502020204030204" pitchFamily="34" charset="0"/>
              </a:rPr>
              <a:t>65.49% overall completion rate</a:t>
            </a:r>
            <a:r>
              <a:rPr lang="en-US" sz="1600" dirty="0">
                <a:latin typeface="Calibri" panose="020F0502020204030204" pitchFamily="34" charset="0"/>
                <a:ea typeface="Calibri" panose="020F0502020204030204" pitchFamily="34" charset="0"/>
                <a:cs typeface="Calibri" panose="020F0502020204030204" pitchFamily="34" charset="0"/>
              </a:rPr>
              <a:t>, tracking the gap between sanctioned and finished houses.</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Efficiency Mapping:</a:t>
            </a:r>
            <a:r>
              <a:rPr lang="en-IN" sz="1600"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Identified that </a:t>
            </a:r>
            <a:r>
              <a:rPr lang="en-US" sz="1600" b="1" dirty="0">
                <a:latin typeface="Calibri" panose="020F0502020204030204" pitchFamily="34" charset="0"/>
                <a:ea typeface="Calibri" panose="020F0502020204030204" pitchFamily="34" charset="0"/>
                <a:cs typeface="Calibri" panose="020F0502020204030204" pitchFamily="34" charset="0"/>
              </a:rPr>
              <a:t>Construction Time</a:t>
            </a:r>
            <a:r>
              <a:rPr lang="en-US" sz="1600" dirty="0">
                <a:latin typeface="Calibri" panose="020F0502020204030204" pitchFamily="34" charset="0"/>
                <a:ea typeface="Calibri" panose="020F0502020204030204" pitchFamily="34" charset="0"/>
                <a:cs typeface="Calibri" panose="020F0502020204030204" pitchFamily="34" charset="0"/>
              </a:rPr>
              <a:t> is the primary driver of delays across states like Goa and Jharkhand, while Mizoram shows the fastest turnaround.</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Historical Trends:</a:t>
            </a:r>
            <a:r>
              <a:rPr lang="en-IN" sz="1600" dirty="0">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Year-on-year analysis reveals a major peak in </a:t>
            </a:r>
            <a:r>
              <a:rPr lang="en-US" sz="1600" b="1" dirty="0">
                <a:latin typeface="Calibri" panose="020F0502020204030204" pitchFamily="34" charset="0"/>
                <a:ea typeface="Calibri" panose="020F0502020204030204" pitchFamily="34" charset="0"/>
                <a:cs typeface="Calibri" panose="020F0502020204030204" pitchFamily="34" charset="0"/>
              </a:rPr>
              <a:t>2019</a:t>
            </a:r>
            <a:r>
              <a:rPr lang="en-US" sz="1600" dirty="0">
                <a:latin typeface="Calibri" panose="020F0502020204030204" pitchFamily="34" charset="0"/>
                <a:ea typeface="Calibri" panose="020F0502020204030204" pitchFamily="34" charset="0"/>
                <a:cs typeface="Calibri" panose="020F0502020204030204" pitchFamily="34" charset="0"/>
              </a:rPr>
              <a:t> with over </a:t>
            </a:r>
            <a:r>
              <a:rPr lang="en-US" sz="1600" b="1" dirty="0">
                <a:latin typeface="Calibri" panose="020F0502020204030204" pitchFamily="34" charset="0"/>
                <a:ea typeface="Calibri" panose="020F0502020204030204" pitchFamily="34" charset="0"/>
                <a:cs typeface="Calibri" panose="020F0502020204030204" pitchFamily="34" charset="0"/>
              </a:rPr>
              <a:t>2.14 lakh completions</a:t>
            </a:r>
            <a:r>
              <a:rPr lang="en-US" sz="1600" dirty="0">
                <a:latin typeface="Calibri" panose="020F0502020204030204" pitchFamily="34" charset="0"/>
                <a:ea typeface="Calibri" panose="020F0502020204030204" pitchFamily="34" charset="0"/>
                <a:cs typeface="Calibri" panose="020F0502020204030204" pitchFamily="34" charset="0"/>
              </a:rPr>
              <a:t>, correlating with a significant drop in administrative lead-times.</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Social Impact:</a:t>
            </a:r>
            <a:r>
              <a:rPr lang="en-US" sz="1600" dirty="0">
                <a:latin typeface="Calibri" panose="020F0502020204030204" pitchFamily="34" charset="0"/>
                <a:ea typeface="Calibri" panose="020F0502020204030204" pitchFamily="34" charset="0"/>
                <a:cs typeface="Calibri" panose="020F0502020204030204" pitchFamily="34" charset="0"/>
              </a:rPr>
              <a:t>Successfully categorized house completions across </a:t>
            </a:r>
            <a:r>
              <a:rPr lang="en-US" sz="1600" b="1" dirty="0">
                <a:latin typeface="Calibri" panose="020F0502020204030204" pitchFamily="34" charset="0"/>
                <a:ea typeface="Calibri" panose="020F0502020204030204" pitchFamily="34" charset="0"/>
                <a:cs typeface="Calibri" panose="020F0502020204030204" pitchFamily="34" charset="0"/>
              </a:rPr>
              <a:t>SC, Minority, and General categories</a:t>
            </a:r>
            <a:r>
              <a:rPr lang="en-US" sz="1600" dirty="0">
                <a:latin typeface="Calibri" panose="020F0502020204030204" pitchFamily="34" charset="0"/>
                <a:ea typeface="Calibri" panose="020F0502020204030204" pitchFamily="34" charset="0"/>
                <a:cs typeface="Calibri" panose="020F0502020204030204" pitchFamily="34" charset="0"/>
              </a:rPr>
              <a:t>, ensuring a transparent view of the scheme's social reach.</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04162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275B85-FFE3-FCF3-12FC-A30F02FBAEEB}"/>
            </a:ext>
          </a:extLst>
        </p:cNvPr>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99373ACB-EB57-4D77-B472-4F13F88DB8A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sp>
        <p:nvSpPr>
          <p:cNvPr id="6" name="Title 5">
            <a:extLst>
              <a:ext uri="{FF2B5EF4-FFF2-40B4-BE49-F238E27FC236}">
                <a16:creationId xmlns:a16="http://schemas.microsoft.com/office/drawing/2014/main" id="{D728F754-AA90-F40D-E7BC-4E905C340534}"/>
              </a:ext>
            </a:extLst>
          </p:cNvPr>
          <p:cNvSpPr>
            <a:spLocks noGrp="1"/>
          </p:cNvSpPr>
          <p:nvPr>
            <p:ph type="title"/>
          </p:nvPr>
        </p:nvSpPr>
        <p:spPr/>
        <p:txBody>
          <a:bodyPr/>
          <a:lstStyle/>
          <a:p>
            <a:endParaRPr lang="en-IN" dirty="0"/>
          </a:p>
        </p:txBody>
      </p:sp>
      <p:pic>
        <p:nvPicPr>
          <p:cNvPr id="3" name="Picture 2">
            <a:extLst>
              <a:ext uri="{FF2B5EF4-FFF2-40B4-BE49-F238E27FC236}">
                <a16:creationId xmlns:a16="http://schemas.microsoft.com/office/drawing/2014/main" id="{A023AB19-7B2E-CA77-4BF9-F6418271AD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299" y="830424"/>
            <a:ext cx="7215909" cy="4739952"/>
          </a:xfrm>
          <a:prstGeom prst="rect">
            <a:avLst/>
          </a:prstGeom>
          <a:ln>
            <a:solidFill>
              <a:schemeClr val="tx1"/>
            </a:solidFill>
          </a:ln>
        </p:spPr>
      </p:pic>
      <p:sp>
        <p:nvSpPr>
          <p:cNvPr id="11" name="Rectangle 4">
            <a:extLst>
              <a:ext uri="{FF2B5EF4-FFF2-40B4-BE49-F238E27FC236}">
                <a16:creationId xmlns:a16="http://schemas.microsoft.com/office/drawing/2014/main" id="{F67196A5-8C07-D476-FF66-10981B0A3B10}"/>
              </a:ext>
            </a:extLst>
          </p:cNvPr>
          <p:cNvSpPr>
            <a:spLocks noChangeArrowheads="1"/>
          </p:cNvSpPr>
          <p:nvPr/>
        </p:nvSpPr>
        <p:spPr bwMode="auto">
          <a:xfrm>
            <a:off x="7417836" y="830424"/>
            <a:ext cx="4702865" cy="464742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Service Saturation:</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Successfully tracked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3.96 million registrations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achieving a high sanction rate of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97.4%</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for clean energy (LPG) connections.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Convergence Gap:</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Identified a critical bottleneck in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Sanitation (SBM)</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with a saturation rate of only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1.7%</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compared to the high success of energy adoption.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Regional Backlogs: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Pinpointed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West Bengal</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and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Madhya Pradesh</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as the top states for pending LPG connections, requiring urgent administrative focus.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0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Performance Funnel:</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Visualized the complete "drop-off" from house registration to final service delivery, providing a clear roadmap for policy intervention.</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93871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541331"/>
          </a:xfrm>
        </p:spPr>
        <p:txBody>
          <a:bodyPr lIns="91440" tIns="45720" rIns="91440" bIns="45720" anchor="t">
            <a:normAutofit fontScale="90000"/>
          </a:bodyPr>
          <a:lstStyle/>
          <a:p>
            <a:r>
              <a:rPr lang="en-US" sz="2400" b="1" cap="all" dirty="0">
                <a:solidFill>
                  <a:srgbClr val="FF0000"/>
                </a:solidFill>
                <a:latin typeface="Times New Roman" panose="02020603050405020304" pitchFamily="18" charset="0"/>
                <a:cs typeface="Times New Roman" panose="02020603050405020304" pitchFamily="18" charset="0"/>
              </a:rPr>
              <a:t>Conclusion</a:t>
            </a:r>
            <a:r>
              <a:rPr lang="en-US" sz="4000" b="1" cap="all" dirty="0">
                <a:solidFill>
                  <a:srgbClr val="FF0000"/>
                </a:solidFill>
                <a:latin typeface="Times New Roman" panose="02020603050405020304" pitchFamily="18" charset="0"/>
                <a:cs typeface="Times New Roman" panose="02020603050405020304" pitchFamily="18" charset="0"/>
              </a:rPr>
              <a:t>:</a:t>
            </a:r>
            <a:endParaRPr lang="en-US" sz="4000" dirty="0">
              <a:solidFill>
                <a:srgbClr val="FF0000"/>
              </a:solidFill>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FF757AF4-81C8-2553-3E2F-4424A882D723}"/>
              </a:ext>
            </a:extLst>
          </p:cNvPr>
          <p:cNvSpPr>
            <a:spLocks noGrp="1"/>
          </p:cNvSpPr>
          <p:nvPr>
            <p:ph idx="1"/>
          </p:nvPr>
        </p:nvSpPr>
        <p:spPr/>
        <p:txBody>
          <a:bodyPr/>
          <a:lstStyle/>
          <a:p>
            <a:endParaRPr lang="en-IN" dirty="0"/>
          </a:p>
        </p:txBody>
      </p:sp>
      <p:sp>
        <p:nvSpPr>
          <p:cNvPr id="7" name="TextBox 6">
            <a:extLst>
              <a:ext uri="{FF2B5EF4-FFF2-40B4-BE49-F238E27FC236}">
                <a16:creationId xmlns:a16="http://schemas.microsoft.com/office/drawing/2014/main" id="{BDA946AE-0F79-671A-CC64-097BB360363C}"/>
              </a:ext>
            </a:extLst>
          </p:cNvPr>
          <p:cNvSpPr txBox="1"/>
          <p:nvPr/>
        </p:nvSpPr>
        <p:spPr>
          <a:xfrm>
            <a:off x="961054" y="1392929"/>
            <a:ext cx="10198358" cy="3046988"/>
          </a:xfrm>
          <a:prstGeom prst="rect">
            <a:avLst/>
          </a:prstGeom>
          <a:noFill/>
        </p:spPr>
        <p:txBody>
          <a:bodyPr wrap="square">
            <a:spAutoFit/>
          </a:bodyPr>
          <a:lstStyle/>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Successful Data Tracking:</a:t>
            </a:r>
            <a:r>
              <a:rPr lang="en-US" dirty="0">
                <a:latin typeface="Calibri" panose="020F0502020204030204" pitchFamily="34" charset="0"/>
                <a:ea typeface="Calibri" panose="020F0502020204030204" pitchFamily="34" charset="0"/>
                <a:cs typeface="Calibri" panose="020F0502020204030204" pitchFamily="34" charset="0"/>
              </a:rPr>
              <a:t> I successfully organized data for over </a:t>
            </a:r>
            <a:r>
              <a:rPr lang="en-US" b="1" dirty="0">
                <a:latin typeface="Calibri" panose="020F0502020204030204" pitchFamily="34" charset="0"/>
                <a:ea typeface="Calibri" panose="020F0502020204030204" pitchFamily="34" charset="0"/>
                <a:cs typeface="Calibri" panose="020F0502020204030204" pitchFamily="34" charset="0"/>
              </a:rPr>
              <a:t>3.9 million families</a:t>
            </a:r>
            <a:r>
              <a:rPr lang="en-US" dirty="0">
                <a:latin typeface="Calibri" panose="020F0502020204030204" pitchFamily="34" charset="0"/>
                <a:ea typeface="Calibri" panose="020F0502020204030204" pitchFamily="34" charset="0"/>
                <a:cs typeface="Calibri" panose="020F0502020204030204" pitchFamily="34" charset="0"/>
              </a:rPr>
              <a:t> across India from 2014 to 2026 using official government sources (NDAP).</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Regional Prioritization:</a:t>
            </a:r>
            <a:r>
              <a:rPr lang="en-US" dirty="0">
                <a:latin typeface="Calibri" panose="020F0502020204030204" pitchFamily="34" charset="0"/>
                <a:ea typeface="Calibri" panose="020F0502020204030204" pitchFamily="34" charset="0"/>
                <a:cs typeface="Calibri" panose="020F0502020204030204" pitchFamily="34" charset="0"/>
              </a:rPr>
              <a:t> By identifying </a:t>
            </a:r>
            <a:r>
              <a:rPr lang="en-US" b="1" dirty="0">
                <a:latin typeface="Calibri" panose="020F0502020204030204" pitchFamily="34" charset="0"/>
                <a:ea typeface="Calibri" panose="020F0502020204030204" pitchFamily="34" charset="0"/>
                <a:cs typeface="Calibri" panose="020F0502020204030204" pitchFamily="34" charset="0"/>
              </a:rPr>
              <a:t>West Bengal</a:t>
            </a:r>
            <a:r>
              <a:rPr lang="en-US" dirty="0">
                <a:latin typeface="Calibri" panose="020F0502020204030204" pitchFamily="34" charset="0"/>
                <a:ea typeface="Calibri" panose="020F0502020204030204" pitchFamily="34" charset="0"/>
                <a:cs typeface="Calibri" panose="020F0502020204030204" pitchFamily="34" charset="0"/>
              </a:rPr>
              <a:t> and </a:t>
            </a:r>
            <a:r>
              <a:rPr lang="en-US" b="1" dirty="0">
                <a:latin typeface="Calibri" panose="020F0502020204030204" pitchFamily="34" charset="0"/>
                <a:ea typeface="Calibri" panose="020F0502020204030204" pitchFamily="34" charset="0"/>
                <a:cs typeface="Calibri" panose="020F0502020204030204" pitchFamily="34" charset="0"/>
              </a:rPr>
              <a:t>Madhya Pradesh</a:t>
            </a:r>
            <a:r>
              <a:rPr lang="en-US" dirty="0">
                <a:latin typeface="Calibri" panose="020F0502020204030204" pitchFamily="34" charset="0"/>
                <a:ea typeface="Calibri" panose="020F0502020204030204" pitchFamily="34" charset="0"/>
                <a:cs typeface="Calibri" panose="020F0502020204030204" pitchFamily="34" charset="0"/>
              </a:rPr>
              <a:t> as "High-Pending" zones, the dashboard provides a clear, data-driven roadmap for administrators to target resources effectively.</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b="1" dirty="0">
                <a:latin typeface="Calibri" panose="020F0502020204030204" pitchFamily="34" charset="0"/>
                <a:ea typeface="Calibri" panose="020F0502020204030204" pitchFamily="34" charset="0"/>
                <a:cs typeface="Calibri" panose="020F0502020204030204" pitchFamily="34" charset="0"/>
              </a:rPr>
              <a:t>Social Convergence Gap:</a:t>
            </a:r>
            <a:r>
              <a:rPr lang="en-IN" dirty="0">
                <a:latin typeface="Calibri" panose="020F0502020204030204" pitchFamily="34" charset="0"/>
                <a:ea typeface="Calibri" panose="020F0502020204030204" pitchFamily="34" charset="0"/>
                <a:cs typeface="Calibri" panose="020F0502020204030204" pitchFamily="34" charset="0"/>
              </a:rPr>
              <a:t> </a:t>
            </a:r>
            <a:r>
              <a:rPr lang="en-US" dirty="0">
                <a:latin typeface="Calibri" panose="020F0502020204030204" pitchFamily="34" charset="0"/>
                <a:ea typeface="Calibri" panose="020F0502020204030204" pitchFamily="34" charset="0"/>
                <a:cs typeface="Calibri" panose="020F0502020204030204" pitchFamily="34" charset="0"/>
              </a:rPr>
              <a:t>A critical finding revealed a "Service Delivery Gap" where </a:t>
            </a:r>
            <a:r>
              <a:rPr lang="en-US" b="1" dirty="0">
                <a:latin typeface="Calibri" panose="020F0502020204030204" pitchFamily="34" charset="0"/>
                <a:ea typeface="Calibri" panose="020F0502020204030204" pitchFamily="34" charset="0"/>
                <a:cs typeface="Calibri" panose="020F0502020204030204" pitchFamily="34" charset="0"/>
              </a:rPr>
              <a:t>LPG (Ujjwala)</a:t>
            </a:r>
            <a:r>
              <a:rPr lang="en-US" dirty="0">
                <a:latin typeface="Calibri" panose="020F0502020204030204" pitchFamily="34" charset="0"/>
                <a:ea typeface="Calibri" panose="020F0502020204030204" pitchFamily="34" charset="0"/>
                <a:cs typeface="Calibri" panose="020F0502020204030204" pitchFamily="34" charset="0"/>
              </a:rPr>
              <a:t> sanctions reached a high of </a:t>
            </a:r>
            <a:r>
              <a:rPr lang="en-US" b="1" dirty="0">
                <a:latin typeface="Calibri" panose="020F0502020204030204" pitchFamily="34" charset="0"/>
                <a:ea typeface="Calibri" panose="020F0502020204030204" pitchFamily="34" charset="0"/>
                <a:cs typeface="Calibri" panose="020F0502020204030204" pitchFamily="34" charset="0"/>
              </a:rPr>
              <a:t>97.4%</a:t>
            </a:r>
            <a:r>
              <a:rPr lang="en-US" dirty="0">
                <a:latin typeface="Calibri" panose="020F0502020204030204" pitchFamily="34" charset="0"/>
                <a:ea typeface="Calibri" panose="020F0502020204030204" pitchFamily="34" charset="0"/>
                <a:cs typeface="Calibri" panose="020F0502020204030204" pitchFamily="34" charset="0"/>
              </a:rPr>
              <a:t>, but </a:t>
            </a:r>
            <a:r>
              <a:rPr lang="en-US" b="1" dirty="0">
                <a:latin typeface="Calibri" panose="020F0502020204030204" pitchFamily="34" charset="0"/>
                <a:ea typeface="Calibri" panose="020F0502020204030204" pitchFamily="34" charset="0"/>
                <a:cs typeface="Calibri" panose="020F0502020204030204" pitchFamily="34" charset="0"/>
              </a:rPr>
              <a:t>Sanitation (SBM)</a:t>
            </a:r>
            <a:r>
              <a:rPr lang="en-US" dirty="0">
                <a:latin typeface="Calibri" panose="020F0502020204030204" pitchFamily="34" charset="0"/>
                <a:ea typeface="Calibri" panose="020F0502020204030204" pitchFamily="34" charset="0"/>
                <a:cs typeface="Calibri" panose="020F0502020204030204" pitchFamily="34" charset="0"/>
              </a:rPr>
              <a:t> integration lagged significantly at only </a:t>
            </a:r>
            <a:r>
              <a:rPr lang="en-US" b="1" dirty="0">
                <a:latin typeface="Calibri" panose="020F0502020204030204" pitchFamily="34" charset="0"/>
                <a:ea typeface="Calibri" panose="020F0502020204030204" pitchFamily="34" charset="0"/>
                <a:cs typeface="Calibri" panose="020F0502020204030204" pitchFamily="34" charset="0"/>
              </a:rPr>
              <a:t>1.7% saturation</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sz="100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b="1" dirty="0">
                <a:latin typeface="Calibri" panose="020F0502020204030204" pitchFamily="34" charset="0"/>
                <a:ea typeface="Calibri" panose="020F0502020204030204" pitchFamily="34" charset="0"/>
                <a:cs typeface="Calibri" panose="020F0502020204030204" pitchFamily="34" charset="0"/>
              </a:rPr>
              <a:t>Operational Insight:</a:t>
            </a:r>
            <a:r>
              <a:rPr lang="en-US" dirty="0">
                <a:latin typeface="Calibri" panose="020F0502020204030204" pitchFamily="34" charset="0"/>
                <a:ea typeface="Calibri" panose="020F0502020204030204" pitchFamily="34" charset="0"/>
                <a:cs typeface="Calibri" panose="020F0502020204030204" pitchFamily="34" charset="0"/>
              </a:rPr>
              <a:t> Pinpointed that </a:t>
            </a:r>
            <a:r>
              <a:rPr lang="en-US" b="1" dirty="0">
                <a:latin typeface="Calibri" panose="020F0502020204030204" pitchFamily="34" charset="0"/>
                <a:ea typeface="Calibri" panose="020F0502020204030204" pitchFamily="34" charset="0"/>
                <a:cs typeface="Calibri" panose="020F0502020204030204" pitchFamily="34" charset="0"/>
              </a:rPr>
              <a:t>Construction Time</a:t>
            </a:r>
            <a:r>
              <a:rPr lang="en-US" dirty="0">
                <a:latin typeface="Calibri" panose="020F0502020204030204" pitchFamily="34" charset="0"/>
                <a:ea typeface="Calibri" panose="020F0502020204030204" pitchFamily="34" charset="0"/>
                <a:cs typeface="Calibri" panose="020F0502020204030204" pitchFamily="34" charset="0"/>
              </a:rPr>
              <a:t>—not administrative paperwork—is the primary driver of delays in high-requirement states</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746294"/>
            <a:ext cx="10515600" cy="429364"/>
          </a:xfrm>
        </p:spPr>
        <p:txBody>
          <a:bodyPr lIns="91440" tIns="45720" rIns="91440" bIns="45720" anchor="t">
            <a:normAutofit/>
          </a:bodyPr>
          <a:lstStyle/>
          <a:p>
            <a:r>
              <a:rPr lang="en-US" sz="2400" b="1" cap="all" dirty="0">
                <a:solidFill>
                  <a:srgbClr val="FF0000"/>
                </a:solidFill>
                <a:latin typeface="Times New Roman" panose="02020603050405020304" pitchFamily="18" charset="0"/>
                <a:cs typeface="Times New Roman" panose="02020603050405020304" pitchFamily="18" charset="0"/>
              </a:rPr>
              <a:t>Future scope:</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4" name="Rectangle 25">
            <a:extLst>
              <a:ext uri="{FF2B5EF4-FFF2-40B4-BE49-F238E27FC236}">
                <a16:creationId xmlns:a16="http://schemas.microsoft.com/office/drawing/2014/main" id="{1030D8AB-7BFD-AE7D-2BAB-20D25A1526FD}"/>
              </a:ext>
            </a:extLst>
          </p:cNvPr>
          <p:cNvSpPr>
            <a:spLocks noChangeArrowheads="1"/>
          </p:cNvSpPr>
          <p:nvPr/>
        </p:nvSpPr>
        <p:spPr bwMode="auto">
          <a:xfrm>
            <a:off x="848537" y="1410704"/>
            <a:ext cx="9471119" cy="32624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Live Data Integration:</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Automate the dashboard by connecting directly to government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APIs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for real-time daily updates instead of manual CSV uploads.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Predictive AI Modeling:</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Use Power BI’s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AI visuals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to forecast exactly when "Housing for All" targets will be met based on current construction speeds.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b="1" dirty="0">
                <a:latin typeface="Calibri" panose="020F0502020204030204" pitchFamily="34" charset="0"/>
                <a:ea typeface="Calibri" panose="020F0502020204030204" pitchFamily="34" charset="0"/>
                <a:cs typeface="Calibri" panose="020F0502020204030204" pitchFamily="34" charset="0"/>
              </a:rPr>
              <a:t>Geographical Expansion</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a:t>
            </a:r>
            <a:r>
              <a:rPr lang="en-US" sz="1600" dirty="0">
                <a:latin typeface="Calibri" panose="020F0502020204030204" pitchFamily="34" charset="0"/>
                <a:ea typeface="Calibri" panose="020F0502020204030204" pitchFamily="34" charset="0"/>
                <a:cs typeface="Calibri" panose="020F0502020204030204" pitchFamily="34" charset="0"/>
              </a:rPr>
              <a:t>Enhance the system to move beyond state-level analysis by drilling down into </a:t>
            </a:r>
            <a:r>
              <a:rPr lang="en-US" sz="1600" b="1" dirty="0">
                <a:latin typeface="Calibri" panose="020F0502020204030204" pitchFamily="34" charset="0"/>
                <a:ea typeface="Calibri" panose="020F0502020204030204" pitchFamily="34" charset="0"/>
                <a:cs typeface="Calibri" panose="020F0502020204030204" pitchFamily="34" charset="0"/>
              </a:rPr>
              <a:t>District, Block, and Village-level</a:t>
            </a:r>
            <a:r>
              <a:rPr lang="en-US" sz="1600" dirty="0">
                <a:latin typeface="Calibri" panose="020F0502020204030204" pitchFamily="34" charset="0"/>
                <a:ea typeface="Calibri" panose="020F0502020204030204" pitchFamily="34" charset="0"/>
                <a:cs typeface="Calibri" panose="020F0502020204030204" pitchFamily="34" charset="0"/>
              </a:rPr>
              <a:t> granularity for more localized monitoring.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Mobile-First Design:</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Optimize the report for </a:t>
            </a:r>
            <a:r>
              <a:rPr kumimoji="0" lang="en-US" altLang="en-US" sz="1600" b="1"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mobile devices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so that field officers and village </a:t>
            </a:r>
            <a:r>
              <a:rPr kumimoji="0" lang="en-US" altLang="en-US" sz="1600" b="0" i="0" u="none" strike="noStrike" cap="none" normalizeH="0" baseline="0" dirty="0" err="1">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pradhans</a:t>
            </a:r>
            <a:r>
              <a:rPr kumimoji="0" lang="en-US" altLang="en-US" sz="1600" b="0" i="0" u="none" strike="noStrike" cap="none" normalizeH="0" baseline="0" dirty="0">
                <a:ln>
                  <a:noFill/>
                </a:ln>
                <a:solidFill>
                  <a:srgbClr val="0A0A0A"/>
                </a:solidFill>
                <a:effectLst/>
                <a:latin typeface="Calibri" panose="020F0502020204030204" pitchFamily="34" charset="0"/>
                <a:ea typeface="Calibri" panose="020F0502020204030204" pitchFamily="34" charset="0"/>
                <a:cs typeface="Calibri" panose="020F0502020204030204" pitchFamily="34" charset="0"/>
              </a:rPr>
              <a:t> can track local progress on the go.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6" name="Rectangle 27">
            <a:extLst>
              <a:ext uri="{FF2B5EF4-FFF2-40B4-BE49-F238E27FC236}">
                <a16:creationId xmlns:a16="http://schemas.microsoft.com/office/drawing/2014/main" id="{FE03AD8C-32EB-371E-D5C3-ED936933D302}"/>
              </a:ext>
            </a:extLst>
          </p:cNvPr>
          <p:cNvSpPr>
            <a:spLocks noChangeArrowheads="1"/>
          </p:cNvSpPr>
          <p:nvPr/>
        </p:nvSpPr>
        <p:spPr bwMode="auto">
          <a:xfrm>
            <a:off x="-548" y="191323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a:ln>
                  <a:noFill/>
                </a:ln>
                <a:solidFill>
                  <a:schemeClr val="tx1"/>
                </a:solidFill>
                <a:effectLst/>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0" y="736963"/>
            <a:ext cx="10515600" cy="448581"/>
          </a:xfrm>
        </p:spPr>
        <p:txBody>
          <a:bodyPr lIns="91440" tIns="45720" rIns="91440" bIns="45720" anchor="t">
            <a:normAutofit/>
          </a:bodyPr>
          <a:lstStyle/>
          <a:p>
            <a:r>
              <a:rPr lang="en-US" sz="2400" b="1" cap="all" dirty="0">
                <a:solidFill>
                  <a:srgbClr val="FF0000"/>
                </a:solidFill>
                <a:latin typeface="Calibri" panose="020F0502020204030204" pitchFamily="34" charset="0"/>
                <a:ea typeface="Calibri" panose="020F0502020204030204" pitchFamily="34" charset="0"/>
                <a:cs typeface="Calibri" panose="020F0502020204030204" pitchFamily="34" charset="0"/>
              </a:rPr>
              <a:t>References:</a:t>
            </a:r>
            <a:endParaRPr lang="en-US" sz="2400"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616680" y="1998994"/>
            <a:ext cx="11867679" cy="4251960"/>
          </a:xfrm>
        </p:spPr>
        <p:txBody>
          <a:bodyPr vert="horz" lIns="91440" tIns="45720" rIns="91440" bIns="45720" rtlCol="0" anchor="t">
            <a:normAutofit/>
          </a:bodyPr>
          <a:lstStyle/>
          <a:p>
            <a:r>
              <a:rPr lang="en-IN" sz="1800" b="1" dirty="0">
                <a:latin typeface="Calibri" panose="020F0502020204030204" pitchFamily="34" charset="0"/>
                <a:ea typeface="Calibri" panose="020F0502020204030204" pitchFamily="34" charset="0"/>
                <a:cs typeface="Calibri" panose="020F0502020204030204" pitchFamily="34" charset="0"/>
              </a:rPr>
              <a:t>Data Sources: </a:t>
            </a:r>
            <a:r>
              <a:rPr lang="en-US" sz="1800" dirty="0">
                <a:latin typeface="Calibri" panose="020F0502020204030204" pitchFamily="34" charset="0"/>
                <a:ea typeface="Calibri" panose="020F0502020204030204" pitchFamily="34" charset="0"/>
                <a:cs typeface="Calibri" panose="020F0502020204030204" pitchFamily="34" charset="0"/>
              </a:rPr>
              <a:t>National Data and Analytics Platform (NDAP)</a:t>
            </a:r>
          </a:p>
          <a:p>
            <a:pPr marL="457200" lvl="1" indent="0">
              <a:buNone/>
            </a:pPr>
            <a:r>
              <a:rPr lang="en-US" sz="1400" u="sng" dirty="0">
                <a:latin typeface="Calibri" panose="020F0502020204030204" pitchFamily="34" charset="0"/>
                <a:ea typeface="Calibri" panose="020F0502020204030204" pitchFamily="34" charset="0"/>
                <a:cs typeface="Calibri" panose="020F0502020204030204" pitchFamily="34" charset="0"/>
                <a:hlinkClick r:id="rId2"/>
              </a:rPr>
              <a:t>https://ndap.niti.gov.in/collection/Pradhan%20Mantri%20Awaas%20Yojana%20-%20Gramin%20(PMAY-G)/217</a:t>
            </a:r>
            <a:endParaRPr lang="en-US" sz="1400" u="sng"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dirty="0">
              <a:latin typeface="Calibri" panose="020F0502020204030204" pitchFamily="34" charset="0"/>
              <a:ea typeface="Calibri" panose="020F0502020204030204" pitchFamily="34" charset="0"/>
              <a:cs typeface="Calibri" panose="020F0502020204030204" pitchFamily="34" charset="0"/>
            </a:endParaRPr>
          </a:p>
          <a:p>
            <a:r>
              <a:rPr lang="en-IN" sz="1800" b="1" dirty="0">
                <a:latin typeface="Calibri" panose="020F0502020204030204" pitchFamily="34" charset="0"/>
                <a:ea typeface="Calibri" panose="020F0502020204030204" pitchFamily="34" charset="0"/>
                <a:cs typeface="Calibri" panose="020F0502020204030204" pitchFamily="34" charset="0"/>
              </a:rPr>
              <a:t>GitHub Link :</a:t>
            </a:r>
          </a:p>
          <a:p>
            <a:pPr marL="457200" lvl="1" indent="0">
              <a:buNone/>
            </a:pPr>
            <a:r>
              <a:rPr lang="en-IN" sz="1400" u="sng" dirty="0">
                <a:solidFill>
                  <a:srgbClr val="0070C0"/>
                </a:solidFill>
                <a:latin typeface="Calibri" panose="020F0502020204030204" pitchFamily="34" charset="0"/>
                <a:ea typeface="Calibri" panose="020F0502020204030204" pitchFamily="34" charset="0"/>
                <a:cs typeface="Calibri" panose="020F0502020204030204" pitchFamily="34" charset="0"/>
              </a:rPr>
              <a:t>https://github.com/Swaraharkare/MS-Elevate-AICTE-PowerBI-Internship/tree/main/week_4/Final%20Project</a:t>
            </a:r>
          </a:p>
          <a:p>
            <a:endParaRPr lang="en-IN" sz="1800" b="1"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2874397" y="2057748"/>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dirty="0">
                <a:solidFill>
                  <a:srgbClr val="FF0000"/>
                </a:solidFill>
                <a:latin typeface="Times New Roman" panose="02020603050405020304" pitchFamily="18" charset="0"/>
                <a:cs typeface="Times New Roman" panose="02020603050405020304" pitchFamily="18" charset="0"/>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326</TotalTime>
  <Words>1309</Words>
  <Application>Microsoft Office PowerPoint</Application>
  <PresentationFormat>Widescreen</PresentationFormat>
  <Paragraphs>102</Paragraphs>
  <Slides>13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Arial</vt:lpstr>
      <vt:lpstr>Calibri</vt:lpstr>
      <vt:lpstr>Franklin Gothic Book</vt:lpstr>
      <vt:lpstr>Times New Roman</vt:lpstr>
      <vt:lpstr>1_Office Theme</vt:lpstr>
      <vt:lpstr>Custom Design</vt:lpstr>
      <vt:lpstr>PowerPoint Presentation</vt:lpstr>
      <vt:lpstr>OUTLINE:</vt:lpstr>
      <vt:lpstr>Problem Statement:</vt:lpstr>
      <vt:lpstr>Proposed Solution:</vt:lpstr>
      <vt:lpstr>System  Approach:</vt:lpstr>
      <vt:lpstr>Workflow &amp; Deployment:</vt:lpstr>
      <vt:lpstr>Result:</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Subodh Harkare</cp:lastModifiedBy>
  <cp:revision>102</cp:revision>
  <dcterms:created xsi:type="dcterms:W3CDTF">2024-05-21T11:55:07Z</dcterms:created>
  <dcterms:modified xsi:type="dcterms:W3CDTF">2026-03-15T16:53:00Z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